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Gender Split (Profiles)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6E8A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bubble3D val="0"/>
            <c:spPr>
              <a:solidFill>
                <a:srgbClr val="CCCCC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3918</c:v>
                </c:pt>
                <c:pt idx="1">
                  <c:v>537</c:v>
                </c:pt>
                <c:pt idx="2">
                  <c:v>218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Subscribers by Province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0D6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W. Cape</c:v>
                  </c:pt>
                  <c:pt idx="2">
                    <c:v>KZN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E. Cape</c:v>
                  </c:pt>
                  <c:pt idx="6">
                    <c:v>N. West</c:v>
                  </c:pt>
                  <c:pt idx="7">
                    <c:v>Free State</c:v>
                  </c:pt>
                  <c:pt idx="8">
                    <c:v>N.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1704</c:v>
                </c:pt>
                <c:pt idx="1">
                  <c:v>791</c:v>
                </c:pt>
                <c:pt idx="2">
                  <c:v>481</c:v>
                </c:pt>
                <c:pt idx="3">
                  <c:v>421</c:v>
                </c:pt>
                <c:pt idx="4">
                  <c:v>368</c:v>
                </c:pt>
                <c:pt idx="5">
                  <c:v>287</c:v>
                </c:pt>
                <c:pt idx="6">
                  <c:v>161</c:v>
                </c:pt>
                <c:pt idx="7">
                  <c:v>156</c:v>
                </c:pt>
                <c:pt idx="8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Age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0D6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Under 18</c:v>
                  </c:pt>
                  <c:pt idx="1">
                    <c:v>18–24</c:v>
                  </c:pt>
                  <c:pt idx="2">
                    <c:v>25–34</c:v>
                  </c:pt>
                  <c:pt idx="3">
                    <c:v>35–44</c:v>
                  </c:pt>
                  <c:pt idx="4">
                    <c:v>45–54</c:v>
                  </c:pt>
                  <c:pt idx="5">
                    <c:v>55–64</c:v>
                  </c:pt>
                  <c:pt idx="6">
                    <c:v>65+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174</c:v>
                </c:pt>
                <c:pt idx="1">
                  <c:v>780</c:v>
                </c:pt>
                <c:pt idx="2">
                  <c:v>1867</c:v>
                </c:pt>
                <c:pt idx="3">
                  <c:v>1140</c:v>
                </c:pt>
                <c:pt idx="4">
                  <c:v>381</c:v>
                </c:pt>
                <c:pt idx="5">
                  <c:v>86</c:v>
                </c:pt>
                <c:pt idx="6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Race/Ethnicity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6E8A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bubble3D val="0"/>
            <c:spPr>
              <a:solidFill>
                <a:srgbClr val="AAAAA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Black</c:v>
                </c:pt>
                <c:pt idx="1">
                  <c:v>Indian/Asian</c:v>
                </c:pt>
                <c:pt idx="2">
                  <c:v>White</c:v>
                </c:pt>
                <c:pt idx="3">
                  <c:v>Coloured</c:v>
                </c:pt>
                <c:pt idx="4">
                  <c:v>Other</c:v>
                </c:pt>
                <c:pt idx="5">
                  <c:v>Unknown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1811</c:v>
                </c:pt>
                <c:pt idx="1">
                  <c:v>768</c:v>
                </c:pt>
                <c:pt idx="2">
                  <c:v>760</c:v>
                </c:pt>
                <c:pt idx="3">
                  <c:v>679</c:v>
                </c:pt>
                <c:pt idx="4">
                  <c:v>48</c:v>
                </c:pt>
                <c:pt idx="5">
                  <c:v>231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Sessions &amp; Watch Hours by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D6E8A"/>
            </a:solidFill>
            <a:ln w="38100" cap="flat">
              <a:solidFill>
                <a:srgbClr val="0D6E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6E8A"/>
              </a:solidFill>
              <a:ln w="9525" cap="flat">
                <a:solidFill>
                  <a:srgbClr val="0D6E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2199</c:v>
                </c:pt>
                <c:pt idx="1">
                  <c:v>2980</c:v>
                </c:pt>
                <c:pt idx="2">
                  <c:v>4816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Watch Time (hrs)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283</c:v>
                </c:pt>
                <c:pt idx="1">
                  <c:v>385</c:v>
                </c:pt>
                <c:pt idx="2">
                  <c:v>830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Total Watch Time (Minutes) by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(min)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6796</c:v>
                </c:pt>
                <c:pt idx="1">
                  <c:v>11775</c:v>
                </c:pt>
                <c:pt idx="2">
                  <c:v>13804</c:v>
                </c:pt>
                <c:pt idx="3">
                  <c:v>13751</c:v>
                </c:pt>
                <c:pt idx="4">
                  <c:v>14871</c:v>
                </c:pt>
                <c:pt idx="5">
                  <c:v>17440</c:v>
                </c:pt>
                <c:pt idx="6">
                  <c:v>11457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Session Duration (min)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Session (min)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7.1</c:v>
                </c:pt>
                <c:pt idx="1">
                  <c:v>8.9</c:v>
                </c:pt>
                <c:pt idx="2">
                  <c:v>8.9</c:v>
                </c:pt>
                <c:pt idx="3">
                  <c:v>9.5</c:v>
                </c:pt>
                <c:pt idx="4">
                  <c:v>8.9</c:v>
                </c:pt>
                <c:pt idx="5">
                  <c:v>10.7</c:v>
                </c:pt>
                <c:pt idx="6">
                  <c:v>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Sessions &amp; Watch Minutes by Hour of 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D6E8A"/>
            </a:solidFill>
            <a:ln w="31750" cap="flat">
              <a:solidFill>
                <a:srgbClr val="0D6E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6E8A"/>
              </a:solidFill>
              <a:ln w="9525" cap="flat">
                <a:solidFill>
                  <a:srgbClr val="0D6E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0:00</c:v>
                  </c:pt>
                  <c:pt idx="1">
                    <c:v>1:00</c:v>
                  </c:pt>
                  <c:pt idx="2">
                    <c:v>2:00</c:v>
                  </c:pt>
                  <c:pt idx="3">
                    <c:v>3:00</c:v>
                  </c:pt>
                  <c:pt idx="4">
                    <c:v>4:00</c:v>
                  </c:pt>
                  <c:pt idx="5">
                    <c:v>5:00</c:v>
                  </c:pt>
                  <c:pt idx="6">
                    <c:v>6:00</c:v>
                  </c:pt>
                  <c:pt idx="7">
                    <c:v>7:00</c:v>
                  </c:pt>
                  <c:pt idx="8">
                    <c:v>8:00</c:v>
                  </c:pt>
                  <c:pt idx="9">
                    <c:v>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180</c:v>
                </c:pt>
                <c:pt idx="1">
                  <c:v>103</c:v>
                </c:pt>
                <c:pt idx="2">
                  <c:v>80</c:v>
                </c:pt>
                <c:pt idx="3">
                  <c:v>55</c:v>
                </c:pt>
                <c:pt idx="4">
                  <c:v>49</c:v>
                </c:pt>
                <c:pt idx="5">
                  <c:v>94</c:v>
                </c:pt>
                <c:pt idx="6">
                  <c:v>180</c:v>
                </c:pt>
                <c:pt idx="7">
                  <c:v>298</c:v>
                </c:pt>
                <c:pt idx="8">
                  <c:v>401</c:v>
                </c:pt>
                <c:pt idx="9">
                  <c:v>402</c:v>
                </c:pt>
                <c:pt idx="10">
                  <c:v>541</c:v>
                </c:pt>
                <c:pt idx="11">
                  <c:v>539</c:v>
                </c:pt>
                <c:pt idx="12">
                  <c:v>634</c:v>
                </c:pt>
                <c:pt idx="13">
                  <c:v>568</c:v>
                </c:pt>
                <c:pt idx="14">
                  <c:v>620</c:v>
                </c:pt>
                <c:pt idx="15">
                  <c:v>637</c:v>
                </c:pt>
                <c:pt idx="16">
                  <c:v>627</c:v>
                </c:pt>
                <c:pt idx="17">
                  <c:v>648</c:v>
                </c:pt>
                <c:pt idx="18">
                  <c:v>628</c:v>
                </c:pt>
                <c:pt idx="19">
                  <c:v>647</c:v>
                </c:pt>
                <c:pt idx="20">
                  <c:v>622</c:v>
                </c:pt>
                <c:pt idx="21">
                  <c:v>585</c:v>
                </c:pt>
                <c:pt idx="22">
                  <c:v>498</c:v>
                </c:pt>
                <c:pt idx="23">
                  <c:v>364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Watch Mins</c:v>
                </c:pt>
              </c:strCache>
            </c:strRef>
          </c:tx>
          <c:spPr>
            <a:solidFill>
              <a:srgbClr val="F97316"/>
            </a:solidFill>
            <a:ln w="3175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0:00</c:v>
                  </c:pt>
                  <c:pt idx="1">
                    <c:v>1:00</c:v>
                  </c:pt>
                  <c:pt idx="2">
                    <c:v>2:00</c:v>
                  </c:pt>
                  <c:pt idx="3">
                    <c:v>3:00</c:v>
                  </c:pt>
                  <c:pt idx="4">
                    <c:v>4:00</c:v>
                  </c:pt>
                  <c:pt idx="5">
                    <c:v>5:00</c:v>
                  </c:pt>
                  <c:pt idx="6">
                    <c:v>6:00</c:v>
                  </c:pt>
                  <c:pt idx="7">
                    <c:v>7:00</c:v>
                  </c:pt>
                  <c:pt idx="8">
                    <c:v>8:00</c:v>
                  </c:pt>
                  <c:pt idx="9">
                    <c:v>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1449</c:v>
                </c:pt>
                <c:pt idx="1">
                  <c:v>577</c:v>
                </c:pt>
                <c:pt idx="2">
                  <c:v>1306</c:v>
                </c:pt>
                <c:pt idx="3">
                  <c:v>590</c:v>
                </c:pt>
                <c:pt idx="4">
                  <c:v>485</c:v>
                </c:pt>
                <c:pt idx="5">
                  <c:v>549</c:v>
                </c:pt>
                <c:pt idx="6">
                  <c:v>1330</c:v>
                </c:pt>
                <c:pt idx="7">
                  <c:v>2015</c:v>
                </c:pt>
                <c:pt idx="8">
                  <c:v>2840</c:v>
                </c:pt>
                <c:pt idx="9">
                  <c:v>2890</c:v>
                </c:pt>
                <c:pt idx="10">
                  <c:v>4661</c:v>
                </c:pt>
                <c:pt idx="11">
                  <c:v>5333</c:v>
                </c:pt>
                <c:pt idx="12">
                  <c:v>6587</c:v>
                </c:pt>
                <c:pt idx="13">
                  <c:v>5755</c:v>
                </c:pt>
                <c:pt idx="14">
                  <c:v>6951</c:v>
                </c:pt>
                <c:pt idx="15">
                  <c:v>6081</c:v>
                </c:pt>
                <c:pt idx="16">
                  <c:v>7056</c:v>
                </c:pt>
                <c:pt idx="17">
                  <c:v>7527</c:v>
                </c:pt>
                <c:pt idx="18">
                  <c:v>5822</c:v>
                </c:pt>
                <c:pt idx="19">
                  <c:v>4971</c:v>
                </c:pt>
                <c:pt idx="20">
                  <c:v>4361</c:v>
                </c:pt>
                <c:pt idx="21">
                  <c:v>3976</c:v>
                </c:pt>
                <c:pt idx="22">
                  <c:v>3703</c:v>
                </c:pt>
                <c:pt idx="23">
                  <c:v>3077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Watch Hours (Top 10 Channels)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(hrs)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ICC Cricket</c:v>
                  </c:pt>
                  <c:pt idx="1">
                    <c:v>SuperSport Live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 Blitz</c:v>
                  </c:pt>
                  <c:pt idx="5">
                    <c:v>Boomerang</c:v>
                  </c:pt>
                  <c:pt idx="6">
                    <c:v>CNN</c:v>
                  </c:pt>
                  <c:pt idx="7">
                    <c:v>Cartoon Network</c:v>
                  </c:pt>
                  <c:pt idx="8">
                    <c:v>E! Entertain.</c:v>
                  </c:pt>
                  <c:pt idx="9">
                    <c:v>Africa Magic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412</c:v>
                </c:pt>
                <c:pt idx="1">
                  <c:v>313</c:v>
                </c:pt>
                <c:pt idx="2">
                  <c:v>193</c:v>
                </c:pt>
                <c:pt idx="3">
                  <c:v>192</c:v>
                </c:pt>
                <c:pt idx="4">
                  <c:v>91</c:v>
                </c:pt>
                <c:pt idx="5">
                  <c:v>73</c:v>
                </c:pt>
                <c:pt idx="6">
                  <c:v>68</c:v>
                </c:pt>
                <c:pt idx="7">
                  <c:v>70</c:v>
                </c:pt>
                <c:pt idx="8">
                  <c:v>37</c:v>
                </c:pt>
                <c:pt idx="9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ICC Cricket World Cup – Monthly Watch Time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ICC Cricket Watch Time (min)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3724</c:v>
                </c:pt>
                <c:pt idx="2">
                  <c:v>21004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Sessions &amp; Watch Time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D6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8761</c:v>
                </c:pt>
                <c:pt idx="1">
                  <c:v>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Watch Hrs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1330</c:v>
                </c:pt>
                <c:pt idx="1">
                  <c:v>132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Session Duration by Age Group (min)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Session Duration (min)</c:v>
                </c:pt>
              </c:strCache>
            </c:strRef>
          </c:tx>
          <c:spPr>
            <a:solidFill>
              <a:srgbClr val="0D6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&lt;18</c:v>
                  </c:pt>
                  <c:pt idx="1">
                    <c:v>18–24</c:v>
                  </c:pt>
                  <c:pt idx="2">
                    <c:v>25–34</c:v>
                  </c:pt>
                  <c:pt idx="3">
                    <c:v>35–44</c:v>
                  </c:pt>
                  <c:pt idx="4">
                    <c:v>45–54</c:v>
                  </c:pt>
                  <c:pt idx="5">
                    <c:v>55–64</c:v>
                  </c:pt>
                  <c:pt idx="6">
                    <c:v>65+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7.8</c:v>
                </c:pt>
                <c:pt idx="1">
                  <c:v>7.6</c:v>
                </c:pt>
                <c:pt idx="2">
                  <c:v>9.6</c:v>
                </c:pt>
                <c:pt idx="3">
                  <c:v>9</c:v>
                </c:pt>
                <c:pt idx="4">
                  <c:v>10.4</c:v>
                </c:pt>
                <c:pt idx="5">
                  <c:v>6.8</c:v>
                </c:pt>
                <c:pt idx="6">
                  <c:v>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Monday: Sessions by Channel (Low Day)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Monday Sessions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Channel O</c:v>
                  </c:pt>
                  <c:pt idx="1">
                    <c:v>Trace TV</c:v>
                  </c:pt>
                  <c:pt idx="2">
                    <c:v>SuperSport Live</c:v>
                  </c:pt>
                  <c:pt idx="3">
                    <c:v>Cartoon Net.</c:v>
                  </c:pt>
                  <c:pt idx="4">
                    <c:v>Africa Magic</c:v>
                  </c:pt>
                  <c:pt idx="5">
                    <c:v>Boomerang</c:v>
                  </c:pt>
                  <c:pt idx="6">
                    <c:v>CNN</c:v>
                  </c:pt>
                  <c:pt idx="7">
                    <c:v>SS Blitz</c:v>
                  </c:pt>
                  <c:pt idx="8">
                    <c:v>ICC Cricket</c:v>
                  </c:pt>
                  <c:pt idx="9">
                    <c:v>E! Entertain.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136</c:v>
                </c:pt>
                <c:pt idx="1">
                  <c:v>115</c:v>
                </c:pt>
                <c:pt idx="2">
                  <c:v>98</c:v>
                </c:pt>
                <c:pt idx="3">
                  <c:v>94</c:v>
                </c:pt>
                <c:pt idx="4">
                  <c:v>93</c:v>
                </c:pt>
                <c:pt idx="5">
                  <c:v>84</c:v>
                </c:pt>
                <c:pt idx="6">
                  <c:v>73</c:v>
                </c:pt>
                <c:pt idx="7">
                  <c:v>71</c:v>
                </c:pt>
                <c:pt idx="8">
                  <c:v>69</c:v>
                </c:pt>
                <c:pt idx="9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Female Viewership by Channel (Estimated)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 Sessions per Channel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Channel O</c:v>
                  </c:pt>
                  <c:pt idx="1">
                    <c:v>Trace TV</c:v>
                  </c:pt>
                  <c:pt idx="2">
                    <c:v>E! Entertain.</c:v>
                  </c:pt>
                  <c:pt idx="3">
                    <c:v>Africa Magic</c:v>
                  </c:pt>
                  <c:pt idx="4">
                    <c:v>Cartoon Net.</c:v>
                  </c:pt>
                  <c:pt idx="5">
                    <c:v>CNN</c:v>
                  </c:pt>
                  <c:pt idx="6">
                    <c:v>Boomerang</c:v>
                  </c:pt>
                  <c:pt idx="7">
                    <c:v>SuperSport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142</c:v>
                </c:pt>
                <c:pt idx="1">
                  <c:v>118</c:v>
                </c:pt>
                <c:pt idx="2">
                  <c:v>89</c:v>
                </c:pt>
                <c:pt idx="3">
                  <c:v>74</c:v>
                </c:pt>
                <c:pt idx="4">
                  <c:v>62</c:v>
                </c:pt>
                <c:pt idx="5">
                  <c:v>55</c:v>
                </c:pt>
                <c:pt idx="6">
                  <c:v>48</c:v>
                </c:pt>
                <c:pt idx="7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&amp; Growth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to Drive Subscription Growth | Q1 2016 Data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2860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186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User &amp; Subscriber Profile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22860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Viewership &amp; Consumption Trends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22860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136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Factors Influencing Consumption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22860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61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Content Strategy for Low-Consumption Days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36008"/>
            <a:ext cx="22860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6085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Growth Initiatives for CVM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81912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USER PROFILES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Base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92024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5,375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Registered Users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0515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05156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216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774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Viewers (Q1)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051560"/>
            <a:ext cx="19202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216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348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0515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05156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216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922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Subscribers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1945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194560"/>
            <a:ext cx="192024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359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004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 (Q1)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77440" y="21945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77440" y="219456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359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 min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37744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Duration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21945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2194560"/>
            <a:ext cx="192024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2359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min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43484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Session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219456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92240" y="2194560"/>
            <a:ext cx="1920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3591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~2.3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49224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Sessions / User</a:t>
            </a:r>
            <a:endParaRPr lang="en-US" sz="10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320040" y="3337560"/>
          <a:ext cx="36576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8" name="Chart 1" descr=""/>
          <p:cNvGraphicFramePr/>
          <p:nvPr/>
        </p:nvGraphicFramePr>
        <p:xfrm>
          <a:off x="4160520" y="3337560"/>
          <a:ext cx="46634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581912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USER PROFILES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Profile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5156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806440" y="1051560"/>
          <a:ext cx="3017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806440" y="3108960"/>
            <a:ext cx="3017520" cy="1051560"/>
          </a:xfrm>
          <a:prstGeom prst="rect">
            <a:avLst/>
          </a:prstGeom>
          <a:solidFill>
            <a:srgbClr val="E0F2F7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97880" y="3154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897880" y="340156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 year olds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the largest age segment (35%). The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18–44 bracket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represents 72% of subscribers — a digitally native, entertainment-hungry audience.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84832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CONSUMPTION TRENDS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Viewership Growth (Q1 2016)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5156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097280"/>
            <a:ext cx="2560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1097280"/>
            <a:ext cx="73152" cy="9875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1371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2,199 sessions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15727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283 hrs watch time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0" y="17739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E8A"/>
                </a:solidFill>
              </a:rPr>
              <a:t>7.7 min avg/session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63640" y="2212848"/>
            <a:ext cx="2560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2212848"/>
            <a:ext cx="73152" cy="9875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258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0" y="24871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2,980 sessions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26883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385 hrs watch time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0" y="28895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E8A"/>
                </a:solidFill>
              </a:rPr>
              <a:t>7.7 min avg/session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63640" y="3328416"/>
            <a:ext cx="25603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3328416"/>
            <a:ext cx="73152" cy="9875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33741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0" y="36027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4,816 sessions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0" y="38039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830 hrs watch time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0" y="4005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E8A"/>
                </a:solidFill>
              </a:rPr>
              <a:t>10.3 min avg/session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63640" y="4389120"/>
            <a:ext cx="256032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4389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▲ 119% growth Jan→Mar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84832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CONSUMPTION TRENDS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Consumption Patterns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5156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806440" y="1051560"/>
          <a:ext cx="3017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7490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29768" y="3794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 Monday is lowest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9768" y="4069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6,796 min total — 61% below Saturday. Only 957 sessions recorded.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64408" y="37490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74136" y="3794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★ Saturday peaks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74136" y="4069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17,440 min total. Avg session = 10.7 min (longest of the week).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08776" y="37490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318504" y="3794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↑ Thu–Sat golden zone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318504" y="4069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Highest engagement window — ideal for premium/exclusive content.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84832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CONSUMPTION TRENDS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Viewing Behaviour (SA Time)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8503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114800"/>
            <a:ext cx="2743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DEAD ZONE  01:00–05:00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4114800"/>
            <a:ext cx="274320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612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MORNING    07:00–09:00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4114800"/>
            <a:ext cx="274320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PEAK PRIME 12:00–18:00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836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CONTENT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Channels by Watch Time &amp; Sessions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5156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051560"/>
          <a:ext cx="3108960" cy="356616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502920"/>
                <a:gridCol w="685800"/>
              </a:tblGrid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Channels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Avg/Session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Sports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SuperSport, ICC Cricket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14.2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Music/Entertainment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Channel O, Trace TV, E!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11.5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Kids / Animation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Cartoon Network, Boomerang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5.7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CNN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8.1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African Drama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Africa Magic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1.7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Other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M-Net, Vuzu, SawSee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3.0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8074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KEY FACTORS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Viewership Consumption?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" y="11612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Sports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50876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drove 24,728 min — 28% of ALL watch time. Live events create appointment viewing that cannot be replicated.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0515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143000"/>
            <a:ext cx="347472" cy="347472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6472" y="11612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74136" y="150876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Prime-time 12:00–18:00 accounts for 58% of sessions. Mornings (07:00–09:00) show a commuter spike. Midnight–05:00 sees near-zero activity.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08776" y="10515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0216" y="114300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11612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8504" y="150876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generates 2.6× more watch time than Monday. Weekend "lean-back" behaviour drives both longer sessions and more return visits.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971800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" y="29900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333756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+ Music/Entertainment = 79% of watch time. Passive, long-form content keeps users engaged far longer than short clips.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297180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76472" y="29900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74136" y="333756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25–44 year-olds drive 65% of all sessions. They have disposable income AND tech fluency — the ideal CVM target segment.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08776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0216" y="297180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29900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18504" y="333756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alone contributes 37% of sessions and watch time. Top 3 provinces (GP, WC, KZN) = 72% of viewership — concentration opportunity.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8074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KEY FACTORS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Content: The Dominant Growth Driver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51560"/>
          <a:ext cx="43891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92040" y="105156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8A"/>
                </a:solidFill>
              </a:rPr>
              <a:t>Sports Event Impact Analysis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463040"/>
          <a:ext cx="3749040" cy="2011680"/>
        </p:xfrm>
        <a:graphic>
          <a:graphicData uri="http://schemas.openxmlformats.org/drawingml/2006/table">
            <a:tbl>
              <a:tblPr/>
              <a:tblGrid>
                <a:gridCol w="1554480"/>
                <a:gridCol w="704088"/>
                <a:gridCol w="704088"/>
                <a:gridCol w="786384"/>
              </a:tblGrid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8A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Total Sessions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2,199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2,980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4,816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ICC Sessions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204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1,261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ICC % of Sessions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6.8%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26.2%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Total Watch (hrs)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ICC Watch (hrs)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350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ICC % of Watch 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42.2%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20040" y="3794760"/>
            <a:ext cx="85039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84048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🏏  ICC Cricket accounted for 42% of March watch time — proving that premium live sports events are BrightTV's single biggest consumption catalyst.  Strategic sports rights acquisition should be a top CVM priority.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8074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KEY FACTORS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Demographics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515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26280" y="105156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37033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38912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</a:rPr>
              <a:t>Male Dominance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912" y="4023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90% of sessions from male subscribers. Female subscribers have strong engagement (8.1 min avg) — an underserved growth segment.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64408" y="37033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83280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45–54 Most Engaged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83280" y="4023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Highest avg session: 10.4 min. Despite being a smaller group, they watch longer — valuable for premium subscriptions.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08776" y="37033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327648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25–34 Core Audience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327648" y="40233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41% of all sessions. Largest cohort with 9.6 min avg — digital natives who respond well to personalised content.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836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CONTENT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Low-Consumption Days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51560"/>
            <a:ext cx="3246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87568" y="10972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Music dominates Mondays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87568" y="1371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Channel O &amp; Trace TV = 43% of Monday sessions. Subscribers shift to casual, mood-based viewing on low-energy days.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77840" y="2377440"/>
            <a:ext cx="3246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24231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Kids content spikes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87568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Cartoon Network &amp; Boomerang = 17% of Monday sessions — suggesting school-aged viewers have more free time on Monday afternoons.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3703320"/>
            <a:ext cx="3246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87568" y="37490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</a:rPr>
              <a:t>Sports still present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87568" y="40233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SuperSport &amp; ICC Cricket still pull 20% of sessions — even on slow days, sports fans are loyal. Event-based promotions can activate them.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83664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CONTENT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Recommendations: Boosting Monday Consumption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515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🎵  Music Monday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music playlists &amp; top chart countdowns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specials &amp; behind-the-scenes exclusives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Channel O &amp; Trace TV for Monday premieres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051560"/>
            <a:ext cx="27432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515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🧒  Kids Corner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43560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After-school animated marathons (14:00–18:00)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new episode drops on Monday to drive return visits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Boomerang &amp; Cartoon Network curated blocks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08776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051560"/>
            <a:ext cx="2743200" cy="34747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0515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 Sports Replays &amp; Highlights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0216" y="143560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match replays &amp; best-of compilations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Rewind: Top 10 sporting moments of the week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Pre-match previews for upcoming mid-week fixtures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274320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926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🎬  Movie/Binge Drops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1012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new VOD titles every Monday morning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"Monday Movie Club" themed collections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M-Net &amp; Vuzu Monday premieres to drive platform visits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64408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2926080"/>
            <a:ext cx="27432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26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Push Notifications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331012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Monday alerts for personalized content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inactive subscribers with "We missed you" nudge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&amp; afternoon reminders for Monday highlights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08776" y="29260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2926080"/>
            <a:ext cx="2743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926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 Monday Promotions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0216" y="3310128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discounts on add-on packs (Mon only)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data / bonus viewing minutes incentive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bonus activations on lowest-traffic day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to grow BrightTV's subscriber base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Content &amp; Licensing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560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Re-engagement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560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Geographic Expansion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Personalisation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35661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566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  Partnerships &amp; Bundles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5661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566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  Data &amp;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8308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GROWTH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1 &amp; 2: Content Licensing + Re-engagement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14800" cy="38404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Premium Sports &amp; Content Rights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Sports drove 54% of watch time &amp; triggered the March surge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more live cricket, football (PSL, Bafana Bafana), rugby rights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exclusive local content (SA music, drama, reality shows)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"event drops" to create appointment viewing habits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30% increase in avg monthly watch time per subscriber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411480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Re-engage Inactive Subscribers (18.4%)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989 registered users never watched — zero revenue but active contracts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win-back email/SMS campaigns with personalised content links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7-day free premium trial to inactive users (sports event aligned)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push on first login after 30 days of inactivity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"at-risk" churners (low frequency) with predictive scoring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Reduce inactive base by 50% within 6 months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8308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GROWTH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3 &amp; 4: Geographic Expansion + Personalisation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148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Geographic Targeting &amp; Expansion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= 37% of sessions. Double-down on GP with targeted digital ads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KZN &amp; WC show strong engagement — localise content (Zulu, Xhosa, Afrikaans)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Cape is underserved — explore affordable mobile-first packages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mobile network operators in lower-density provinces for zero-rated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screens / township activations in Limpopo &amp; Mpumalanga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20% subscriber growth in non-Gauteng provinces by FY 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411480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Personalisation &amp; Recommendation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viewing history to surface next-best content for each user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users by: genre preference, device, time-of-day, demographics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"Continue Watching" and "Because You Watched" carousels on homepage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CVM nudges — e.g. sports fan? Alert on upcoming live events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content thumbnails and messaging by age/gender cohort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+25% session frequency per user through personalisation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8308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GROWTH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5 &amp; 6: Partnerships + Data-Driven CVM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1480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  Strategic Partnerships &amp; Bundle Offers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operator bundles (Vodacom, MTN, Telkom) — include BrightTV with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 / decoder pre-load partnerships (Samsung, LG, MultiChoice)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fintech rewards: BrightTV subscription as a loyalty perk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bundles: discounted packages for 18-24 segment (fastest-growing)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integration: enable Twitter/X &amp; Instagram live reactions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3 strategic partnerships signed within H1 of FY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4114800" cy="38404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  Data &amp; Analytics for CVM Targeting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churn prediction model using session frequency, duration drops, channel mix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handles in dataset: activate social listening &amp; influencer outreach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cohort analysis: track new vs returning subscriber growth rates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ROI dashboard: watch time per rand of content cost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dashboard for live sports: surge demand planning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CVM team has weekly data-driven targeting reports within 30 days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9784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CVM Growth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65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96596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 (Now)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783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989 inactive subscribers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Monday content programming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campaigns live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dashboards &amp; churn model built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6312" y="1051560"/>
            <a:ext cx="1965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051560"/>
            <a:ext cx="1965960" cy="38404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051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87752" y="1508760"/>
            <a:ext cx="1783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rights acquisition begins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engine v1 launched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operator bundle negotiations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campaign: KZN, WC, EC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72584" y="1051560"/>
            <a:ext cx="1965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051560"/>
            <a:ext cx="19659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051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64024" y="1508760"/>
            <a:ext cx="1783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youth bundles launched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/ social media activation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content strategy fully deployed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personalisation at scale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48856" y="1051560"/>
            <a:ext cx="1965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48856" y="1051560"/>
            <a:ext cx="196596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1051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0296" y="1508760"/>
            <a:ext cx="1783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KPIs vs targets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 high-performing content deals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winning acquisition channels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next FY content calendar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828032"/>
            <a:ext cx="8503920" cy="1828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2803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Target: 15% Net New Subscriber Growth + 25% Increase in Monthly Watch Time by FY End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84832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GROWTH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Opportunity: Female Subscriber Segment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Share of Profiles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5156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161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Female Session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51560"/>
            <a:ext cx="201168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2161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 min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Male Session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05156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051560"/>
            <a:ext cx="201168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2161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Share of Sessions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20040" y="214884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577840" y="2148840"/>
            <a:ext cx="32461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148840"/>
            <a:ext cx="324612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 Actions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69280" y="2542032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"Women's Wednesday" content theme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African female-led drama &amp; reality content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social campaigns on Instagram &amp; TikTok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beauty, fashion &amp; lifestyle brands for co-marketing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female-focused content packs at competitive price points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978408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the CVM Team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24712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24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is king — protect &amp; grow 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" y="14356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alone delivered 28% of Q1 watch time. Live sports rights acquisition is the single highest-ROI investment BrightTV can make.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64008" cy="117043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124712"/>
            <a:ext cx="320040" cy="320040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24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85232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Monday — it's leaving money on the 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14356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watch time is 61% below Saturday. Targeted content drops, Monday deals and push campaigns can rapidly close this gap.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50008"/>
            <a:ext cx="64008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" y="2441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Re-activate 989 dormant subscribers first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" y="273405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users have already signed up. Win-back campaigns require minimal acquisition cost and can yield immediate revenue uplift.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50008"/>
            <a:ext cx="64008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423160"/>
            <a:ext cx="320040" cy="3200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24414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segment is massively underserved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273405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female share of profiles vs equal engagement quality. Tailored content and marketing to women can double the addressable audience.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48456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21608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" y="37398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time = 12:00–18:00, prime day = Saturday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" y="403250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promotional spend and content premieres during these windows. Consider Saturday exclusive drops for premium subscribers.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648456"/>
            <a:ext cx="64008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721608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85232" y="37398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leads; other provinces need attention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85232" y="403250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subscribers are outside Gauteng but receive proportionally less. Localised content and affordable rural packages are high-growth levers.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68880"/>
            <a:ext cx="91440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Growth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data-driven decisions.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Approve Q1 re-engagement campaign targeting 989 inactive 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8046720" cy="365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90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Initiate sports rights discussions for upcoming PSL &amp; international cricket season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29584"/>
            <a:ext cx="8046720" cy="365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2958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Commission full CVM data platform within 30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8046720" cy="365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6849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Pilot "Monday Campaign" content strategy for 4 weeks &amp; measure uplift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4074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Open partnership conversations with Vodacom, MTN &amp; Samsung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– CVM Growth Strategy</dc:title>
  <dc:subject>PptxGenJS Presentation</dc:subject>
  <dc:creator>PptxGenJS</dc:creator>
  <cp:lastModifiedBy>PptxGenJS</cp:lastModifiedBy>
  <cp:revision>1</cp:revision>
  <dcterms:created xsi:type="dcterms:W3CDTF">2026-04-19T11:09:30Z</dcterms:created>
  <dcterms:modified xsi:type="dcterms:W3CDTF">2026-04-19T11:09:30Z</dcterms:modified>
</cp:coreProperties>
</file>